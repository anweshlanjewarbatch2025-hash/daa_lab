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urier Prime"/>
      <p:regular r:id="rId201314"/>
    </p:embeddedFont>
    <p:embeddedFont>
      <p:font typeface="Courier Prime Bold"/>
      <p:regular r:id="rId201315"/>
    </p:embeddedFont>
    <p:embeddedFont>
      <p:font typeface="Gloock"/>
      <p:regular r:id="rId201316"/>
    </p:embeddedFont>
    <p:embeddedFont>
      <p:font typeface="Jost"/>
      <p:regular r:id="rId201317"/>
    </p:embeddedFont>
    <p:embeddedFont>
      <p:font typeface="Jo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510000">
            <a:off x="1092173" y="1295400"/>
            <a:ext cx="3888583" cy="316805"/>
          </a:xfrm>
          <a:prstGeom prst="rect">
            <a:avLst/>
          </a:prstGeom>
          <a:solidFill>
            <a:srgbClr val="3A3632"/>
          </a:solidFill>
          <a:ln/>
        </p:spPr>
      </p:sp>
      <p:sp>
        <p:nvSpPr>
          <p:cNvPr id="3" name="Text 1"/>
          <p:cNvSpPr/>
          <p:nvPr/>
        </p:nvSpPr>
        <p:spPr>
          <a:xfrm rot="21510000">
            <a:off x="1214010" y="1356320"/>
            <a:ext cx="425449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102" kern="100" dirty="0">
                <a:solidFill>
                  <a:srgbClr val="DDD6C8"/>
                </a:solidFill>
                <a:latin typeface="Courier Prime Bold" pitchFamily="34" charset="0"/>
                <a:ea typeface="Courier Prime Bold" pitchFamily="34" charset="-122"/>
                <a:cs typeface="Courier Prime Bold" pitchFamily="34" charset="-120"/>
              </a:rPr>
              <a:t>DESIGN AND ANALYSIS OF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2173" y="2068210"/>
            <a:ext cx="5791055" cy="2316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TRAVELLING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SALESMAN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spc="-64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PROBLEM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92173" y="4487366"/>
            <a:ext cx="64006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TSP · FINDING THE SHORTEST CLOSED TOUR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755055"/>
            <a:ext cx="54862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1130895"/>
            <a:ext cx="4876678" cy="506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FIND THE SHORTEST</a:t>
            </a:r>
            <a:endParaRPr lang="en-US" sz="6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CLOSED TOUR</a:t>
            </a:r>
            <a:endParaRPr lang="en-US" sz="6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THROUGH EVERY</a:t>
            </a:r>
            <a:endParaRPr lang="en-US" sz="6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CITY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705432" y="2616299"/>
            <a:ext cx="4876678" cy="1625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Visit every city exactly once.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 to the starting city.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Minimize total travel cost or distance.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Optimization matters because small route improvements scale across repeated journeys.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54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47700"/>
            <a:ext cx="35356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spc="-15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TSP IS A</a:t>
            </a:r>
            <a:endParaRPr lang="en-US" sz="3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3000" spc="-15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WEIGHTED-GRAPH PROBLEM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1955800"/>
            <a:ext cx="406390" cy="406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170" y="1962468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Vertex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19170" y="2399010"/>
            <a:ext cx="292608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city.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45991"/>
            <a:ext cx="406390" cy="406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9170" y="2852658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Edge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219170" y="3289201"/>
            <a:ext cx="292608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direct connection between two cities.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030762"/>
            <a:ext cx="406390" cy="406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19170" y="4037429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Edge weight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219170" y="4473972"/>
            <a:ext cx="292608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Travel distance or cost.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920952"/>
            <a:ext cx="406390" cy="406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19170" y="4927620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Hamiltonian cycle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219170" y="5364163"/>
            <a:ext cx="292608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Visits every vertex exactly once, then returns to the start.</a:t>
            </a:r>
            <a:endParaRPr lang="en-US" sz="16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118" y="1163538"/>
            <a:ext cx="5912992" cy="375255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69118" y="5100241"/>
            <a:ext cx="5912992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EACH EDGE WEIGHT REPRESENTS TRAVEL DISTANCE OR COST; THE HIGHLIGHTED CYCLE VISITS EVERY CITY ONCE AND RETURNS TO ITS START.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991"/>
            <a:ext cx="109725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ONE ROUTING PROBLEM,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MANY REAL DECISIONS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109391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same structure appears whenever a system must visit a collection of locations or tasks efficiently.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81486"/>
            <a:ext cx="330192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773" y="2650053"/>
            <a:ext cx="480048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Delivery and logistics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773" y="3086596"/>
            <a:ext cx="5029074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Sequence stops to reduce fleet travel.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2681486"/>
            <a:ext cx="330192" cy="33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1630" y="2650053"/>
            <a:ext cx="480048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Route planning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781630" y="3086596"/>
            <a:ext cx="4800480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Organize visits across a service region.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111724"/>
            <a:ext cx="330192" cy="33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6773" y="4080292"/>
            <a:ext cx="480048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Manufacturing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66773" y="4516834"/>
            <a:ext cx="5029074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Order jobs or tool movements efficiently.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4111724"/>
            <a:ext cx="330192" cy="330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81630" y="4080292"/>
            <a:ext cx="480048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Circuit-board drilling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781630" y="4516834"/>
            <a:ext cx="4800480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Reduce drill-head travel between holes.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313363"/>
            <a:ext cx="330192" cy="330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6773" y="5281930"/>
            <a:ext cx="105153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Transportation optimization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1066773" y="5718473"/>
            <a:ext cx="1051533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Lower distance, time, or operating cost.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089498" y="2643386"/>
            <a:ext cx="12700" cy="1201638"/>
          </a:xfrm>
          <a:prstGeom prst="rect">
            <a:avLst/>
          </a:prstGeom>
          <a:solidFill>
            <a:srgbClr val="57524B"/>
          </a:solidFill>
          <a:ln/>
        </p:spPr>
      </p:sp>
      <p:sp>
        <p:nvSpPr>
          <p:cNvPr id="21" name="Shape 14"/>
          <p:cNvSpPr/>
          <p:nvPr/>
        </p:nvSpPr>
        <p:spPr>
          <a:xfrm>
            <a:off x="609585" y="3838674"/>
            <a:ext cx="5486263" cy="12700"/>
          </a:xfrm>
          <a:prstGeom prst="rect">
            <a:avLst/>
          </a:prstGeom>
          <a:solidFill>
            <a:srgbClr val="57524B"/>
          </a:solidFill>
          <a:ln/>
        </p:spPr>
      </p:sp>
      <p:sp>
        <p:nvSpPr>
          <p:cNvPr id="22" name="Shape 15"/>
          <p:cNvSpPr/>
          <p:nvPr/>
        </p:nvSpPr>
        <p:spPr>
          <a:xfrm>
            <a:off x="6089498" y="3845024"/>
            <a:ext cx="12700" cy="1201638"/>
          </a:xfrm>
          <a:prstGeom prst="rect">
            <a:avLst/>
          </a:prstGeom>
          <a:solidFill>
            <a:srgbClr val="57524B"/>
          </a:solidFill>
          <a:ln/>
        </p:spPr>
      </p:sp>
      <p:sp>
        <p:nvSpPr>
          <p:cNvPr id="23" name="Shape 16"/>
          <p:cNvSpPr/>
          <p:nvPr/>
        </p:nvSpPr>
        <p:spPr>
          <a:xfrm>
            <a:off x="6095848" y="3838674"/>
            <a:ext cx="5486263" cy="12700"/>
          </a:xfrm>
          <a:prstGeom prst="rect">
            <a:avLst/>
          </a:prstGeom>
          <a:solidFill>
            <a:srgbClr val="57524B"/>
          </a:solidFill>
          <a:ln/>
        </p:spPr>
      </p:sp>
      <p:sp>
        <p:nvSpPr>
          <p:cNvPr id="24" name="Shape 17"/>
          <p:cNvSpPr/>
          <p:nvPr/>
        </p:nvSpPr>
        <p:spPr>
          <a:xfrm>
            <a:off x="609585" y="5040313"/>
            <a:ext cx="10972526" cy="12700"/>
          </a:xfrm>
          <a:prstGeom prst="rect">
            <a:avLst/>
          </a:prstGeom>
          <a:solidFill>
            <a:srgbClr val="57524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2701" y="1828800"/>
            <a:ext cx="1981150" cy="19050"/>
          </a:xfrm>
          <a:prstGeom prst="rect">
            <a:avLst/>
          </a:prstGeom>
          <a:solidFill>
            <a:srgbClr val="C8913F"/>
          </a:solidFill>
          <a:ln/>
        </p:spPr>
      </p:sp>
      <p:sp>
        <p:nvSpPr>
          <p:cNvPr id="3" name="Shape 1"/>
          <p:cNvSpPr/>
          <p:nvPr/>
        </p:nvSpPr>
        <p:spPr>
          <a:xfrm>
            <a:off x="7962701" y="4953000"/>
            <a:ext cx="1981150" cy="19050"/>
          </a:xfrm>
          <a:prstGeom prst="rect">
            <a:avLst/>
          </a:prstGeom>
          <a:solidFill>
            <a:srgbClr val="C8913F"/>
          </a:solidFill>
          <a:ln/>
        </p:spPr>
      </p:sp>
      <p:sp>
        <p:nvSpPr>
          <p:cNvPr id="4" name="Shape 2"/>
          <p:cNvSpPr/>
          <p:nvPr/>
        </p:nvSpPr>
        <p:spPr>
          <a:xfrm>
            <a:off x="7607110" y="2184400"/>
            <a:ext cx="19050" cy="2425700"/>
          </a:xfrm>
          <a:prstGeom prst="rect">
            <a:avLst/>
          </a:prstGeom>
          <a:solidFill>
            <a:srgbClr val="C8913F"/>
          </a:solidFill>
          <a:ln/>
        </p:spPr>
      </p:sp>
      <p:sp>
        <p:nvSpPr>
          <p:cNvPr id="5" name="Shape 3"/>
          <p:cNvSpPr/>
          <p:nvPr/>
        </p:nvSpPr>
        <p:spPr>
          <a:xfrm>
            <a:off x="10286743" y="2184400"/>
            <a:ext cx="19050" cy="2425700"/>
          </a:xfrm>
          <a:prstGeom prst="rect">
            <a:avLst/>
          </a:prstGeom>
          <a:solidFill>
            <a:srgbClr val="C8913F"/>
          </a:solidFill>
          <a:ln/>
        </p:spPr>
      </p:sp>
      <p:sp>
        <p:nvSpPr>
          <p:cNvPr id="6" name="Shape 4"/>
          <p:cNvSpPr/>
          <p:nvPr/>
        </p:nvSpPr>
        <p:spPr>
          <a:xfrm>
            <a:off x="7619809" y="1841500"/>
            <a:ext cx="2666933" cy="3111500"/>
          </a:xfrm>
          <a:prstGeom prst="line">
            <a:avLst/>
          </a:prstGeom>
          <a:solidFill>
            <a:srgbClr val="C8913F"/>
          </a:solidFill>
          <a:ln w="12700">
            <a:solidFill>
              <a:srgbClr val="5752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619809" y="1841500"/>
            <a:ext cx="2666933" cy="3111500"/>
          </a:xfrm>
          <a:prstGeom prst="line">
            <a:avLst/>
          </a:prstGeom>
          <a:solidFill>
            <a:srgbClr val="C8913F"/>
          </a:solidFill>
          <a:ln w="12700">
            <a:solidFill>
              <a:srgbClr val="5752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6918" y="1498600"/>
            <a:ext cx="685783" cy="685800"/>
          </a:xfrm>
          <a:prstGeom prst="ellipse">
            <a:avLst/>
          </a:prstGeom>
          <a:solidFill>
            <a:srgbClr val="C8913F"/>
          </a:solidFill>
          <a:ln/>
        </p:spPr>
      </p:sp>
      <p:sp>
        <p:nvSpPr>
          <p:cNvPr id="9" name="Shape 7"/>
          <p:cNvSpPr/>
          <p:nvPr/>
        </p:nvSpPr>
        <p:spPr>
          <a:xfrm>
            <a:off x="9943851" y="1498600"/>
            <a:ext cx="685783" cy="685800"/>
          </a:xfrm>
          <a:prstGeom prst="ellipse">
            <a:avLst/>
          </a:prstGeom>
          <a:solidFill>
            <a:srgbClr val="1C1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76918" y="4610100"/>
            <a:ext cx="685783" cy="685800"/>
          </a:xfrm>
          <a:prstGeom prst="ellipse">
            <a:avLst/>
          </a:prstGeom>
          <a:solidFill>
            <a:srgbClr val="1C1A18"/>
          </a:solidFill>
          <a:ln/>
        </p:spPr>
      </p:sp>
      <p:sp>
        <p:nvSpPr>
          <p:cNvPr id="11" name="Shape 9"/>
          <p:cNvSpPr/>
          <p:nvPr/>
        </p:nvSpPr>
        <p:spPr>
          <a:xfrm>
            <a:off x="9943851" y="4610100"/>
            <a:ext cx="685783" cy="685800"/>
          </a:xfrm>
          <a:prstGeom prst="ellipse">
            <a:avLst/>
          </a:prstGeom>
          <a:solidFill>
            <a:srgbClr val="1C1A18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773" y="914400"/>
            <a:ext cx="55878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INSTANCE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773" y="1245791"/>
            <a:ext cx="497827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 FOUR-CITY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INSTANCE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066773" y="2414191"/>
            <a:ext cx="4978275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Cities: A, B, C, and D.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Distances are symmetric: travelling from A to B costs the same as travelling from B to 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22924" y="1676400"/>
            <a:ext cx="119377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89858" y="1676400"/>
            <a:ext cx="119377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22924" y="4787900"/>
            <a:ext cx="119377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89858" y="4787900"/>
            <a:ext cx="119377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07190" y="1333500"/>
            <a:ext cx="10921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07190" y="5054600"/>
            <a:ext cx="10921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30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234" y="3340100"/>
            <a:ext cx="10921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01040" y="3340100"/>
            <a:ext cx="10921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80193" y="2540000"/>
            <a:ext cx="10921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16694" y="4127500"/>
            <a:ext cx="10921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9565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COMPARE CANDIDATES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991"/>
            <a:ext cx="2346961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TOUR 2 IS THE </a:t>
            </a:r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BEST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OF THE THREE SHOWN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4141391"/>
            <a:ext cx="2346961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preferred tour is the one with the minimum total cost.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5375077"/>
            <a:ext cx="2346961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ALL DISTINCT TOURS HAVE BEEN CONSIDERED. THE MINIMUM COST IS 80 FOR A-B-D-C-A.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408" y="609600"/>
            <a:ext cx="35508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TOUR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408" y="1161336"/>
            <a:ext cx="294126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→ B → C → D →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0408" y="1666081"/>
            <a:ext cx="355085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10 + 35 + 30 + 20 =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DDD6C8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95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31259" y="0"/>
            <a:ext cx="4160436" cy="2570262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10" name="Text 8"/>
          <p:cNvSpPr/>
          <p:nvPr/>
        </p:nvSpPr>
        <p:spPr>
          <a:xfrm>
            <a:off x="8640844" y="609600"/>
            <a:ext cx="35508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TOUR 2 · MINIMUM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0844" y="1161336"/>
            <a:ext cx="294126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→ B → D → C → 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40844" y="1666081"/>
            <a:ext cx="355085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10 + 25 + 30 + 15 =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80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408" y="3179862"/>
            <a:ext cx="771128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TOUR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408" y="3731597"/>
            <a:ext cx="710170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→ C → B → D → 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408" y="4236343"/>
            <a:ext cx="771128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15 + 35 + 25 + 20 =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DDD6C8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95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24909" y="0"/>
            <a:ext cx="12700" cy="2570262"/>
          </a:xfrm>
          <a:prstGeom prst="rect">
            <a:avLst/>
          </a:prstGeom>
          <a:solidFill>
            <a:srgbClr val="575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3870823" y="2563912"/>
            <a:ext cx="8320872" cy="12700"/>
          </a:xfrm>
          <a:prstGeom prst="rect">
            <a:avLst/>
          </a:prstGeom>
          <a:solidFill>
            <a:srgbClr val="57524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09600"/>
            <a:ext cx="54862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EXACT METHOD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940991"/>
            <a:ext cx="4876678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BRUTE FORCE: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ENUMERATE, EVALUATE, CHOOSE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09585" y="3125391"/>
            <a:ext cx="487667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 a small instance, test every candidate tour and keep the cheapest one.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3898702"/>
            <a:ext cx="4876678" cy="133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Generate possible tours.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Calculate each tour's total cost.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Compare all costs.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Select the minimum-cost tour.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02237" y="381000"/>
            <a:ext cx="56894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PSEUDOCODE · FIXED START CITY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02237" y="807641"/>
            <a:ext cx="5283068" cy="4956969"/>
          </a:xfrm>
          <a:prstGeom prst="roundRect">
            <a:avLst>
              <a:gd name="adj" fmla="val 231"/>
            </a:avLst>
          </a:prstGeom>
          <a:solidFill>
            <a:srgbClr val="1C1A18"/>
          </a:solidFill>
          <a:ln/>
        </p:spPr>
      </p:sp>
      <p:sp>
        <p:nvSpPr>
          <p:cNvPr id="9" name="Text 6"/>
          <p:cNvSpPr/>
          <p:nvPr/>
        </p:nvSpPr>
        <p:spPr>
          <a:xfrm>
            <a:off x="6746012" y="1010841"/>
            <a:ext cx="4795519" cy="455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bestCost ← ∞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bestTour ← ∅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permutation P of C \ {Start}: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tour ← (Start, P₁, …, P_(n−1), Start)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← Σᵢ₌₁ⁿ w(tourᵢ, tourᵢ₊₁)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cost &lt; bestCost then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bestCost ← cost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bestTour ← tour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bestTour, bestCost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02237" y="5993209"/>
            <a:ext cx="528306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NUMBER OF TOURS GROWS RAPIDLY AS THE NUMBER OF CITIES INCREASES.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7987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09600"/>
            <a:ext cx="447028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BOTTLENECK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940991"/>
            <a:ext cx="3860703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FACTORIAL GROWTH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OVERWHELMS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BRUTE FORCE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09585" y="3125391"/>
            <a:ext cx="3860703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With a fixed starting city, candidate tours are approximately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DDD6C8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(n − 1)!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; a simplified brute-force description is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DDD6C8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O(n!)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4193282"/>
            <a:ext cx="3860703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 n grows, exhaustive evaluation becomes impractical.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89458" y="609600"/>
            <a:ext cx="650223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CANDIDATE TOURS WITH ONE FIXED START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458" y="1367730"/>
            <a:ext cx="5892653" cy="432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COMPUTATIONAL COMPLEXITY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991"/>
            <a:ext cx="109725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TSP IS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2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COMPUTATIONALLY DIFFICULT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109391"/>
            <a:ext cx="11582110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wording of the question changes the complexity classification.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2643386"/>
            <a:ext cx="5333867" cy="2012355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871986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8913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OPTIMIZATION VERSION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79" y="3258622"/>
            <a:ext cx="48766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Find the minimum-cost tour.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179" y="3763367"/>
            <a:ext cx="510527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NP-hard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179" y="4178598"/>
            <a:ext cx="5105272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task asks for the best solution.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8244" y="2871986"/>
            <a:ext cx="53338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DECISION 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244" y="3258622"/>
            <a:ext cx="53338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ECE6D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Is there a tour with cost at most K?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48244" y="3763367"/>
            <a:ext cx="533386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DDD6C8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NP-complete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8244" y="4178598"/>
            <a:ext cx="533386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5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task asks for a yes-or-no answer.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585" y="4884341"/>
            <a:ext cx="10972526" cy="802580"/>
          </a:xfrm>
          <a:prstGeom prst="roundRect">
            <a:avLst>
              <a:gd name="adj" fmla="val 1424"/>
            </a:avLst>
          </a:prstGeom>
          <a:solidFill>
            <a:srgbClr val="63471C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80" y="5138341"/>
            <a:ext cx="1117572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These classifications describe computational difficulty, not a proof that no efficient algorithm can ever exist.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0862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09600"/>
            <a:ext cx="62990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TAKEAWAY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985441"/>
            <a:ext cx="5689458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FROM CITY ROUTES</a:t>
            </a:r>
            <a:endParaRPr lang="en-US" sz="6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ECE6D8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TO </a:t>
            </a:r>
            <a:pPr algn="l" indent="0" marL="0">
              <a:lnSpc>
                <a:spcPct val="79000"/>
              </a:lnSpc>
              <a:buNone/>
            </a:pPr>
            <a:r>
              <a:rPr lang="en-US" sz="6000" spc="-60" kern="100" dirty="0">
                <a:solidFill>
                  <a:srgbClr val="C8913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ALGORITHMIC INSIGHT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09585" y="4814491"/>
            <a:ext cx="5689458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DDD6C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Simple to state,</a:t>
            </a:r>
            <a:endParaRPr lang="en-US" sz="1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DDD6C8"/>
                </a:solidFill>
                <a:latin typeface="Jost Bold" pitchFamily="34" charset="0"/>
                <a:ea typeface="Jost Bold" pitchFamily="34" charset="-122"/>
                <a:cs typeface="Jost Bold" pitchFamily="34" charset="-120"/>
              </a:rPr>
              <a:t>powerful to model,</a:t>
            </a:r>
            <a:endParaRPr lang="en-US" sz="1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C891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difficult to scale.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09585" y="6048177"/>
            <a:ext cx="62990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8A19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GENERATED USING GAMMA AI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19320002">
            <a:off x="6807030" y="-50701"/>
            <a:ext cx="431690" cy="139700"/>
          </a:xfrm>
          <a:prstGeom prst="rect">
            <a:avLst/>
          </a:prstGeom>
          <a:solidFill>
            <a:srgbClr val="3A3632">
              <a:alpha val="8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noFill/>
          <a:ln w="38099">
            <a:solidFill>
              <a:srgbClr val="D1CCC0"/>
            </a:solidFill>
            <a:prstDash val="solid"/>
          </a:ln>
          <a:effectLst>
            <a:outerShdw sx="100000" sy="100000" kx="0" ky="0" algn="bl" rotWithShape="0" blurRad="201930" dist="74930" dir="54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 rot="2279998">
            <a:off x="11861503" y="-50701"/>
            <a:ext cx="431690" cy="139700"/>
          </a:xfrm>
          <a:prstGeom prst="rect">
            <a:avLst/>
          </a:prstGeom>
          <a:solidFill>
            <a:srgbClr val="3A3632">
              <a:alpha val="8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2026-10-19T17:24:09Z</dcterms:created>
  <dcterms:modified xsi:type="dcterms:W3CDTF">2026-10-19T17:24:09Z</dcterms:modified>
</cp:coreProperties>
</file>